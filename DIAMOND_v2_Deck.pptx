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80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DIAMOND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Kalshi Prediction Engine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31520" y="29260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anomaly detection + automated trading on prediction markets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840480"/>
            <a:ext cx="1280160" cy="365760"/>
          </a:xfrm>
          <a:prstGeom prst="rect">
            <a:avLst/>
          </a:prstGeom>
          <a:solidFill>
            <a:srgbClr val="06B6D4">
              <a:alpha val="1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8404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194560" y="3840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463040" cy="1188720"/>
          </a:xfrm>
          <a:prstGeom prst="rect">
            <a:avLst/>
          </a:prstGeom>
          <a:solidFill>
            <a:srgbClr val="141B2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1463040" cy="36576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1417320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17373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Kalshi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21488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trades</a:t>
            </a:r>
            <a:endParaRPr lang="en-US" sz="9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8528" y="1783080"/>
            <a:ext cx="182880" cy="18288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148840" y="1280160"/>
            <a:ext cx="1463040" cy="1188720"/>
          </a:xfrm>
          <a:prstGeom prst="rect">
            <a:avLst/>
          </a:prstGeom>
          <a:solidFill>
            <a:srgbClr val="141B2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2148840" y="1280160"/>
            <a:ext cx="1463040" cy="36576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4912" y="1417320"/>
            <a:ext cx="310896" cy="31089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148840" y="17373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Processor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2148840" y="21488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pipeline</a:t>
            </a:r>
            <a:endParaRPr lang="en-US" sz="9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0168" y="1783080"/>
            <a:ext cx="182880" cy="18288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3840480" y="1280160"/>
            <a:ext cx="1463040" cy="1188720"/>
          </a:xfrm>
          <a:prstGeom prst="rect">
            <a:avLst/>
          </a:prstGeom>
          <a:solidFill>
            <a:srgbClr val="141B2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3840480" y="1280160"/>
            <a:ext cx="1463040" cy="36576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6552" y="1417320"/>
            <a:ext cx="310896" cy="31089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840480" y="17373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10-Feature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100" dirty="0"/>
          </a:p>
        </p:txBody>
      </p:sp>
      <p:sp>
        <p:nvSpPr>
          <p:cNvPr id="20" name="Text 13"/>
          <p:cNvSpPr/>
          <p:nvPr/>
        </p:nvSpPr>
        <p:spPr>
          <a:xfrm>
            <a:off x="3840480" y="21488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scoring</a:t>
            </a:r>
            <a:endParaRPr lang="en-US" sz="9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21808" y="1783080"/>
            <a:ext cx="182880" cy="182880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5532120" y="1280160"/>
            <a:ext cx="1463040" cy="1188720"/>
          </a:xfrm>
          <a:prstGeom prst="rect">
            <a:avLst/>
          </a:prstGeom>
          <a:solidFill>
            <a:srgbClr val="141B2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15"/>
          <p:cNvSpPr/>
          <p:nvPr/>
        </p:nvSpPr>
        <p:spPr>
          <a:xfrm>
            <a:off x="5532120" y="1280160"/>
            <a:ext cx="1463040" cy="36576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08192" y="1417320"/>
            <a:ext cx="310896" cy="310896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5532120" y="17373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Conviction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Tracker</a:t>
            </a:r>
            <a:endParaRPr lang="en-US" sz="1100" dirty="0"/>
          </a:p>
        </p:txBody>
      </p:sp>
      <p:sp>
        <p:nvSpPr>
          <p:cNvPr id="26" name="Text 17"/>
          <p:cNvSpPr/>
          <p:nvPr/>
        </p:nvSpPr>
        <p:spPr>
          <a:xfrm>
            <a:off x="5532120" y="21488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grouping</a:t>
            </a:r>
            <a:endParaRPr lang="en-US" sz="900" dirty="0"/>
          </a:p>
        </p:txBody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13448" y="1783080"/>
            <a:ext cx="182880" cy="182880"/>
          </a:xfrm>
          <a:prstGeom prst="rect">
            <a:avLst/>
          </a:prstGeom>
        </p:spPr>
      </p:pic>
      <p:sp>
        <p:nvSpPr>
          <p:cNvPr id="28" name="Shape 18"/>
          <p:cNvSpPr/>
          <p:nvPr/>
        </p:nvSpPr>
        <p:spPr>
          <a:xfrm>
            <a:off x="7223760" y="1280160"/>
            <a:ext cx="1463040" cy="1188720"/>
          </a:xfrm>
          <a:prstGeom prst="rect">
            <a:avLst/>
          </a:prstGeom>
          <a:solidFill>
            <a:srgbClr val="141B2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19"/>
          <p:cNvSpPr/>
          <p:nvPr/>
        </p:nvSpPr>
        <p:spPr>
          <a:xfrm>
            <a:off x="7223760" y="1280160"/>
            <a:ext cx="1463040" cy="36576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99832" y="1417320"/>
            <a:ext cx="310896" cy="310896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7223760" y="17373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1100" dirty="0"/>
          </a:p>
        </p:txBody>
      </p:sp>
      <p:sp>
        <p:nvSpPr>
          <p:cNvPr id="32" name="Text 21"/>
          <p:cNvSpPr/>
          <p:nvPr/>
        </p:nvSpPr>
        <p:spPr>
          <a:xfrm>
            <a:off x="7223760" y="21488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Book-aware pricing</a:t>
            </a:r>
            <a:endParaRPr lang="en-US" sz="900" dirty="0"/>
          </a:p>
        </p:txBody>
      </p:sp>
      <p:sp>
        <p:nvSpPr>
          <p:cNvPr id="33" name="Shape 22"/>
          <p:cNvSpPr/>
          <p:nvPr/>
        </p:nvSpPr>
        <p:spPr>
          <a:xfrm>
            <a:off x="457200" y="2926080"/>
            <a:ext cx="1920240" cy="1005840"/>
          </a:xfrm>
          <a:prstGeom prst="rect">
            <a:avLst/>
          </a:prstGeom>
          <a:solidFill>
            <a:srgbClr val="141B2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3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4360" y="3063240"/>
            <a:ext cx="256032" cy="256032"/>
          </a:xfrm>
          <a:prstGeom prst="rect">
            <a:avLst/>
          </a:prstGeom>
        </p:spPr>
      </p:pic>
      <p:sp>
        <p:nvSpPr>
          <p:cNvPr id="35" name="Text 23"/>
          <p:cNvSpPr/>
          <p:nvPr/>
        </p:nvSpPr>
        <p:spPr>
          <a:xfrm>
            <a:off x="914400" y="303580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Store</a:t>
            </a:r>
            <a:endParaRPr lang="en-US" sz="1100" dirty="0"/>
          </a:p>
        </p:txBody>
      </p:sp>
      <p:sp>
        <p:nvSpPr>
          <p:cNvPr id="36" name="Text 24"/>
          <p:cNvSpPr/>
          <p:nvPr/>
        </p:nvSpPr>
        <p:spPr>
          <a:xfrm>
            <a:off x="914400" y="33832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trades, anomalies, positions</a:t>
            </a:r>
            <a:endParaRPr lang="en-US" sz="900" dirty="0"/>
          </a:p>
        </p:txBody>
      </p:sp>
      <p:sp>
        <p:nvSpPr>
          <p:cNvPr id="37" name="Shape 25"/>
          <p:cNvSpPr/>
          <p:nvPr/>
        </p:nvSpPr>
        <p:spPr>
          <a:xfrm>
            <a:off x="2560320" y="2926080"/>
            <a:ext cx="1920240" cy="1005840"/>
          </a:xfrm>
          <a:prstGeom prst="rect">
            <a:avLst/>
          </a:prstGeom>
          <a:solidFill>
            <a:srgbClr val="141B2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3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97480" y="3063240"/>
            <a:ext cx="256032" cy="256032"/>
          </a:xfrm>
          <a:prstGeom prst="rect">
            <a:avLst/>
          </a:prstGeom>
        </p:spPr>
      </p:pic>
      <p:sp>
        <p:nvSpPr>
          <p:cNvPr id="39" name="Text 26"/>
          <p:cNvSpPr/>
          <p:nvPr/>
        </p:nvSpPr>
        <p:spPr>
          <a:xfrm>
            <a:off x="3017520" y="303580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Intelligence</a:t>
            </a:r>
            <a:endParaRPr lang="en-US" sz="1100" dirty="0"/>
          </a:p>
        </p:txBody>
      </p:sp>
      <p:sp>
        <p:nvSpPr>
          <p:cNvPr id="40" name="Text 27"/>
          <p:cNvSpPr/>
          <p:nvPr/>
        </p:nvSpPr>
        <p:spPr>
          <a:xfrm>
            <a:off x="3017520" y="33832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limits, event caps, burst throttle</a:t>
            </a:r>
            <a:endParaRPr lang="en-US" sz="900" dirty="0"/>
          </a:p>
        </p:txBody>
      </p:sp>
      <p:sp>
        <p:nvSpPr>
          <p:cNvPr id="41" name="Shape 28"/>
          <p:cNvSpPr/>
          <p:nvPr/>
        </p:nvSpPr>
        <p:spPr>
          <a:xfrm>
            <a:off x="4663440" y="2926080"/>
            <a:ext cx="1920240" cy="1005840"/>
          </a:xfrm>
          <a:prstGeom prst="rect">
            <a:avLst/>
          </a:prstGeom>
          <a:solidFill>
            <a:srgbClr val="141B2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4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00600" y="3063240"/>
            <a:ext cx="256032" cy="256032"/>
          </a:xfrm>
          <a:prstGeom prst="rect">
            <a:avLst/>
          </a:prstGeom>
        </p:spPr>
      </p:pic>
      <p:sp>
        <p:nvSpPr>
          <p:cNvPr id="43" name="Text 29"/>
          <p:cNvSpPr/>
          <p:nvPr/>
        </p:nvSpPr>
        <p:spPr>
          <a:xfrm>
            <a:off x="5120640" y="303580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Self-Learning</a:t>
            </a:r>
            <a:endParaRPr lang="en-US" sz="1100" dirty="0"/>
          </a:p>
        </p:txBody>
      </p:sp>
      <p:sp>
        <p:nvSpPr>
          <p:cNvPr id="44" name="Text 30"/>
          <p:cNvSpPr/>
          <p:nvPr/>
        </p:nvSpPr>
        <p:spPr>
          <a:xfrm>
            <a:off x="5120640" y="33832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attribution, adaptive weights</a:t>
            </a:r>
            <a:endParaRPr lang="en-US" sz="900" dirty="0"/>
          </a:p>
        </p:txBody>
      </p:sp>
      <p:sp>
        <p:nvSpPr>
          <p:cNvPr id="45" name="Shape 31"/>
          <p:cNvSpPr/>
          <p:nvPr/>
        </p:nvSpPr>
        <p:spPr>
          <a:xfrm>
            <a:off x="6766560" y="2926080"/>
            <a:ext cx="1920240" cy="1005840"/>
          </a:xfrm>
          <a:prstGeom prst="rect">
            <a:avLst/>
          </a:prstGeom>
          <a:solidFill>
            <a:srgbClr val="141B2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46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903720" y="3063240"/>
            <a:ext cx="256032" cy="256032"/>
          </a:xfrm>
          <a:prstGeom prst="rect">
            <a:avLst/>
          </a:prstGeom>
        </p:spPr>
      </p:pic>
      <p:sp>
        <p:nvSpPr>
          <p:cNvPr id="47" name="Text 32"/>
          <p:cNvSpPr/>
          <p:nvPr/>
        </p:nvSpPr>
        <p:spPr>
          <a:xfrm>
            <a:off x="7223760" y="303580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Pushover Alerts</a:t>
            </a:r>
            <a:endParaRPr lang="en-US" sz="1100" dirty="0"/>
          </a:p>
        </p:txBody>
      </p:sp>
      <p:sp>
        <p:nvSpPr>
          <p:cNvPr id="48" name="Text 33"/>
          <p:cNvSpPr/>
          <p:nvPr/>
        </p:nvSpPr>
        <p:spPr>
          <a:xfrm>
            <a:off x="7223760" y="33832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notifications</a:t>
            </a:r>
            <a:endParaRPr lang="en-US" sz="900" dirty="0"/>
          </a:p>
        </p:txBody>
      </p:sp>
      <p:sp>
        <p:nvSpPr>
          <p:cNvPr id="49" name="Shape 34"/>
          <p:cNvSpPr/>
          <p:nvPr/>
        </p:nvSpPr>
        <p:spPr>
          <a:xfrm>
            <a:off x="4572000" y="2468880"/>
            <a:ext cx="0" cy="457200"/>
          </a:xfrm>
          <a:prstGeom prst="line">
            <a:avLst/>
          </a:prstGeom>
          <a:noFill/>
          <a:ln w="12700">
            <a:solidFill>
              <a:srgbClr val="06B6D4"/>
            </a:solidFill>
            <a:prstDash val="dash"/>
          </a:ln>
        </p:spPr>
      </p:sp>
      <p:sp>
        <p:nvSpPr>
          <p:cNvPr id="50" name="Text 35"/>
          <p:cNvSpPr/>
          <p:nvPr/>
        </p:nvSpPr>
        <p:spPr>
          <a:xfrm>
            <a:off x="731520" y="4297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on Oracle Cloud Infrastructure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10-Feature Detection Engine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FEATURES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754880" y="10058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FEATURES (NEW)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931920" cy="457200"/>
          </a:xfrm>
          <a:prstGeom prst="rect">
            <a:avLst/>
          </a:prstGeom>
          <a:solidFill>
            <a:srgbClr val="141B2D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371600"/>
            <a:ext cx="45720" cy="4572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3716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Size Z-Score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926080" y="13716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wt: 12%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0" y="13716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fire: 94%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1901952"/>
            <a:ext cx="3931920" cy="457200"/>
          </a:xfrm>
          <a:prstGeom prst="rect">
            <a:avLst/>
          </a:prstGeom>
          <a:solidFill>
            <a:srgbClr val="141B2D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1901952"/>
            <a:ext cx="45720" cy="4572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190195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Spike Ratio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926080" y="190195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wt: 10%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0" y="190195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fire: 99%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432304"/>
            <a:ext cx="3931920" cy="457200"/>
          </a:xfrm>
          <a:prstGeom prst="rect">
            <a:avLst/>
          </a:prstGeom>
          <a:solidFill>
            <a:srgbClr val="141B2D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2432304"/>
            <a:ext cx="45720" cy="4572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243230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Book Imbalance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926080" y="243230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wt: 12%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657600" y="243230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fire: 10%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2962656"/>
            <a:ext cx="3931920" cy="457200"/>
          </a:xfrm>
          <a:prstGeom prst="rect">
            <a:avLst/>
          </a:prstGeom>
          <a:solidFill>
            <a:srgbClr val="141B2D"/>
          </a:solidFill>
          <a:ln/>
        </p:spPr>
      </p:sp>
      <p:sp>
        <p:nvSpPr>
          <p:cNvPr id="22" name="Shape 20"/>
          <p:cNvSpPr/>
          <p:nvPr/>
        </p:nvSpPr>
        <p:spPr>
          <a:xfrm>
            <a:off x="457200" y="2962656"/>
            <a:ext cx="45720" cy="4572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296265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Taker Side Skew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926080" y="296265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wt: 20%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657600" y="296265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fire: 70%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3493008"/>
            <a:ext cx="3931920" cy="457200"/>
          </a:xfrm>
          <a:prstGeom prst="rect">
            <a:avLst/>
          </a:prstGeom>
          <a:solidFill>
            <a:srgbClr val="141B2D"/>
          </a:solidFill>
          <a:ln/>
        </p:spPr>
      </p:sp>
      <p:sp>
        <p:nvSpPr>
          <p:cNvPr id="27" name="Shape 25"/>
          <p:cNvSpPr/>
          <p:nvPr/>
        </p:nvSpPr>
        <p:spPr>
          <a:xfrm>
            <a:off x="457200" y="3493008"/>
            <a:ext cx="45720" cy="4572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8" name="Text 26"/>
          <p:cNvSpPr/>
          <p:nvPr/>
        </p:nvSpPr>
        <p:spPr>
          <a:xfrm>
            <a:off x="594360" y="349300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Impact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926080" y="349300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wt: 5%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657600" y="349300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fire: 2%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" y="4023360"/>
            <a:ext cx="3931920" cy="457200"/>
          </a:xfrm>
          <a:prstGeom prst="rect">
            <a:avLst/>
          </a:prstGeom>
          <a:solidFill>
            <a:srgbClr val="141B2D"/>
          </a:solidFill>
          <a:ln/>
        </p:spPr>
      </p:sp>
      <p:sp>
        <p:nvSpPr>
          <p:cNvPr id="32" name="Shape 30"/>
          <p:cNvSpPr/>
          <p:nvPr/>
        </p:nvSpPr>
        <p:spPr>
          <a:xfrm>
            <a:off x="457200" y="4023360"/>
            <a:ext cx="45720" cy="4572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3" name="Text 31"/>
          <p:cNvSpPr/>
          <p:nvPr/>
        </p:nvSpPr>
        <p:spPr>
          <a:xfrm>
            <a:off x="594360" y="4023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Cross-Market Correlation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926080" y="40233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wt: 3%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657600" y="40233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fire: 0.4%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54880" y="1371600"/>
            <a:ext cx="3931920" cy="457200"/>
          </a:xfrm>
          <a:prstGeom prst="rect">
            <a:avLst/>
          </a:prstGeom>
          <a:solidFill>
            <a:srgbClr val="141B2D"/>
          </a:solidFill>
          <a:ln/>
        </p:spPr>
      </p:sp>
      <p:sp>
        <p:nvSpPr>
          <p:cNvPr id="37" name="Shape 35"/>
          <p:cNvSpPr/>
          <p:nvPr/>
        </p:nvSpPr>
        <p:spPr>
          <a:xfrm>
            <a:off x="4754880" y="1371600"/>
            <a:ext cx="45720" cy="4572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8" name="Text 36"/>
          <p:cNvSpPr/>
          <p:nvPr/>
        </p:nvSpPr>
        <p:spPr>
          <a:xfrm>
            <a:off x="4892040" y="13716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Sweep Detection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223760" y="13716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wt: 15%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955280" y="13716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fire: 16%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754880" y="1901952"/>
            <a:ext cx="3931920" cy="457200"/>
          </a:xfrm>
          <a:prstGeom prst="rect">
            <a:avLst/>
          </a:prstGeom>
          <a:solidFill>
            <a:srgbClr val="141B2D"/>
          </a:solidFill>
          <a:ln/>
        </p:spPr>
      </p:sp>
      <p:sp>
        <p:nvSpPr>
          <p:cNvPr id="42" name="Shape 40"/>
          <p:cNvSpPr/>
          <p:nvPr/>
        </p:nvSpPr>
        <p:spPr>
          <a:xfrm>
            <a:off x="4754880" y="1901952"/>
            <a:ext cx="45720" cy="4572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3" name="Text 41"/>
          <p:cNvSpPr/>
          <p:nvPr/>
        </p:nvSpPr>
        <p:spPr>
          <a:xfrm>
            <a:off x="4892040" y="190195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Velocity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223760" y="190195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wt: 12%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955280" y="190195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fire: 28%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754880" y="2432304"/>
            <a:ext cx="3931920" cy="457200"/>
          </a:xfrm>
          <a:prstGeom prst="rect">
            <a:avLst/>
          </a:prstGeom>
          <a:solidFill>
            <a:srgbClr val="141B2D"/>
          </a:solidFill>
          <a:ln/>
        </p:spPr>
      </p:sp>
      <p:sp>
        <p:nvSpPr>
          <p:cNvPr id="47" name="Shape 45"/>
          <p:cNvSpPr/>
          <p:nvPr/>
        </p:nvSpPr>
        <p:spPr>
          <a:xfrm>
            <a:off x="4754880" y="2432304"/>
            <a:ext cx="45720" cy="4572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8" name="Text 46"/>
          <p:cNvSpPr/>
          <p:nvPr/>
        </p:nvSpPr>
        <p:spPr>
          <a:xfrm>
            <a:off x="4892040" y="243230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Concentration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7223760" y="243230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wt: 5%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955280" y="243230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fire: 7%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754880" y="2962656"/>
            <a:ext cx="3931920" cy="457200"/>
          </a:xfrm>
          <a:prstGeom prst="rect">
            <a:avLst/>
          </a:prstGeom>
          <a:solidFill>
            <a:srgbClr val="141B2D"/>
          </a:solidFill>
          <a:ln/>
        </p:spPr>
      </p:sp>
      <p:sp>
        <p:nvSpPr>
          <p:cNvPr id="52" name="Shape 50"/>
          <p:cNvSpPr/>
          <p:nvPr/>
        </p:nvSpPr>
        <p:spPr>
          <a:xfrm>
            <a:off x="4754880" y="2962656"/>
            <a:ext cx="45720" cy="4572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3" name="Text 51"/>
          <p:cNvSpPr/>
          <p:nvPr/>
        </p:nvSpPr>
        <p:spPr>
          <a:xfrm>
            <a:off x="4892040" y="296265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Pressure Delta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7223760" y="296265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wt: 6%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7955280" y="296265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fire: new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solidFill>
            <a:srgbClr val="06B6D4">
              <a:alpha val="10000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731520" y="43891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shifted from always-firing baseline features toward selective, high-conviction signals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Conviction System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Event-aware trade management with time-decayed signal aggregation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371600" y="1463040"/>
            <a:ext cx="6400800" cy="640080"/>
          </a:xfrm>
          <a:prstGeom prst="rect">
            <a:avLst/>
          </a:prstGeom>
          <a:solidFill>
            <a:srgbClr val="141B2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71600" y="14630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conviction = Σ ( scoreᵢ × e^(-ageᵢ / half_life) )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2468880"/>
            <a:ext cx="2468880" cy="1188720"/>
          </a:xfrm>
          <a:prstGeom prst="rect">
            <a:avLst/>
          </a:prstGeom>
          <a:solidFill>
            <a:srgbClr val="141B2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2468880"/>
            <a:ext cx="246888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6060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30175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opposing signals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event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0" y="2468880"/>
            <a:ext cx="2468880" cy="1188720"/>
          </a:xfrm>
          <a:prstGeom prst="rect">
            <a:avLst/>
          </a:prstGeom>
          <a:solidFill>
            <a:srgbClr val="141B2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74720" y="2468880"/>
            <a:ext cx="246888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0" y="26060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657600" y="30175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Opposing side has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conviction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2468880"/>
            <a:ext cx="2468880" cy="1188720"/>
          </a:xfrm>
          <a:prstGeom prst="rect">
            <a:avLst/>
          </a:prstGeom>
          <a:solidFill>
            <a:srgbClr val="141B2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2468880"/>
            <a:ext cx="2468880" cy="45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0" y="26060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00800" y="30175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side exceeds old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flip threshold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39319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 vs Intensity: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0.65 alerts ≈ one 0.90 alert (at same recency)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 wins: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intensity beats stale persistence as signals decay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Survives restarts: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persisted to SQLite, restored on startup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Progress &amp; Roadmap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Detection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017520" y="10972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75%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749040" y="1152144"/>
            <a:ext cx="4663440" cy="164592"/>
          </a:xfrm>
          <a:prstGeom prst="rect">
            <a:avLst/>
          </a:prstGeom>
          <a:solidFill>
            <a:srgbClr val="141B2D"/>
          </a:solidFill>
          <a:ln/>
        </p:spPr>
      </p:sp>
      <p:sp>
        <p:nvSpPr>
          <p:cNvPr id="7" name="Shape 5"/>
          <p:cNvSpPr/>
          <p:nvPr/>
        </p:nvSpPr>
        <p:spPr>
          <a:xfrm>
            <a:off x="3749040" y="1152144"/>
            <a:ext cx="3497580" cy="16459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3749040" y="13350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features, tuned weights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" y="16642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Engine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017520" y="16642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60%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749040" y="1719072"/>
            <a:ext cx="4663440" cy="164592"/>
          </a:xfrm>
          <a:prstGeom prst="rect">
            <a:avLst/>
          </a:prstGeom>
          <a:solidFill>
            <a:srgbClr val="141B2D"/>
          </a:solidFill>
          <a:ln/>
        </p:spPr>
      </p:sp>
      <p:sp>
        <p:nvSpPr>
          <p:cNvPr id="12" name="Shape 10"/>
          <p:cNvSpPr/>
          <p:nvPr/>
        </p:nvSpPr>
        <p:spPr>
          <a:xfrm>
            <a:off x="3749040" y="1719072"/>
            <a:ext cx="2798064" cy="1645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3749040" y="1901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Book-aware pricing, adaptive tiers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31520" y="22311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Management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017520" y="223113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70%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749040" y="2286000"/>
            <a:ext cx="4663440" cy="164592"/>
          </a:xfrm>
          <a:prstGeom prst="rect">
            <a:avLst/>
          </a:prstGeom>
          <a:solidFill>
            <a:srgbClr val="141B2D"/>
          </a:solidFill>
          <a:ln/>
        </p:spPr>
      </p:sp>
      <p:sp>
        <p:nvSpPr>
          <p:cNvPr id="17" name="Shape 15"/>
          <p:cNvSpPr/>
          <p:nvPr/>
        </p:nvSpPr>
        <p:spPr>
          <a:xfrm>
            <a:off x="3749040" y="2286000"/>
            <a:ext cx="3264408" cy="16459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3749040" y="2468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switch, category/event/burst limits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31520" y="27980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Conviction System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017520" y="27980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80%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749040" y="2852928"/>
            <a:ext cx="4663440" cy="164592"/>
          </a:xfrm>
          <a:prstGeom prst="rect">
            <a:avLst/>
          </a:prstGeom>
          <a:solidFill>
            <a:srgbClr val="141B2D"/>
          </a:solidFill>
          <a:ln/>
        </p:spPr>
      </p:sp>
      <p:sp>
        <p:nvSpPr>
          <p:cNvPr id="22" name="Shape 20"/>
          <p:cNvSpPr/>
          <p:nvPr/>
        </p:nvSpPr>
        <p:spPr>
          <a:xfrm>
            <a:off x="3749040" y="2852928"/>
            <a:ext cx="3730752" cy="16459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3749040" y="30358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grouping, decay, persistence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31520" y="33649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Self-Learning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017520" y="33649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30%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749040" y="3419856"/>
            <a:ext cx="4663440" cy="164592"/>
          </a:xfrm>
          <a:prstGeom prst="rect">
            <a:avLst/>
          </a:prstGeom>
          <a:solidFill>
            <a:srgbClr val="141B2D"/>
          </a:solidFill>
          <a:ln/>
        </p:spPr>
      </p:sp>
      <p:sp>
        <p:nvSpPr>
          <p:cNvPr id="27" name="Shape 25"/>
          <p:cNvSpPr/>
          <p:nvPr/>
        </p:nvSpPr>
        <p:spPr>
          <a:xfrm>
            <a:off x="3749040" y="3419856"/>
            <a:ext cx="1399032" cy="16459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8" name="Text 26"/>
          <p:cNvSpPr/>
          <p:nvPr/>
        </p:nvSpPr>
        <p:spPr>
          <a:xfrm>
            <a:off x="3749040" y="360273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Built, awaiting settlement data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31520" y="3931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P&amp;L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017520" y="39319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0%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749040" y="3986784"/>
            <a:ext cx="4663440" cy="164592"/>
          </a:xfrm>
          <a:prstGeom prst="rect">
            <a:avLst/>
          </a:prstGeom>
          <a:solidFill>
            <a:srgbClr val="141B2D"/>
          </a:solidFill>
          <a:ln/>
        </p:spPr>
      </p:sp>
      <p:sp>
        <p:nvSpPr>
          <p:cNvPr id="32" name="Text 30"/>
          <p:cNvSpPr/>
          <p:nvPr/>
        </p:nvSpPr>
        <p:spPr>
          <a:xfrm>
            <a:off x="3749040" y="416966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gap — fills just started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31520" y="3794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31520" y="4114800"/>
            <a:ext cx="1920240" cy="685800"/>
          </a:xfrm>
          <a:prstGeom prst="rect">
            <a:avLst/>
          </a:prstGeom>
          <a:solidFill>
            <a:srgbClr val="141B2D"/>
          </a:solidFill>
          <a:ln/>
        </p:spPr>
      </p:sp>
      <p:sp>
        <p:nvSpPr>
          <p:cNvPr id="35" name="Text 33"/>
          <p:cNvSpPr/>
          <p:nvPr/>
        </p:nvSpPr>
        <p:spPr>
          <a:xfrm>
            <a:off x="731520" y="41148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22960" y="44348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fills, first settlement data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788920" y="4114800"/>
            <a:ext cx="1920240" cy="685800"/>
          </a:xfrm>
          <a:prstGeom prst="rect">
            <a:avLst/>
          </a:prstGeom>
          <a:solidFill>
            <a:srgbClr val="141B2D"/>
          </a:solidFill>
          <a:ln/>
        </p:spPr>
      </p:sp>
      <p:sp>
        <p:nvSpPr>
          <p:cNvPr id="38" name="Text 36"/>
          <p:cNvSpPr/>
          <p:nvPr/>
        </p:nvSpPr>
        <p:spPr>
          <a:xfrm>
            <a:off x="2788920" y="41148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 weeks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880360" y="44348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attribution, win rate by pattern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846320" y="4114800"/>
            <a:ext cx="1920240" cy="685800"/>
          </a:xfrm>
          <a:prstGeom prst="rect">
            <a:avLst/>
          </a:prstGeom>
          <a:solidFill>
            <a:srgbClr val="141B2D"/>
          </a:solidFill>
          <a:ln/>
        </p:spPr>
      </p:sp>
      <p:sp>
        <p:nvSpPr>
          <p:cNvPr id="41" name="Text 39"/>
          <p:cNvSpPr/>
          <p:nvPr/>
        </p:nvSpPr>
        <p:spPr>
          <a:xfrm>
            <a:off x="4846320" y="41148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2-4 weeks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937760" y="44348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weights, market-specific models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903720" y="4114800"/>
            <a:ext cx="1920240" cy="685800"/>
          </a:xfrm>
          <a:prstGeom prst="rect">
            <a:avLst/>
          </a:prstGeom>
          <a:solidFill>
            <a:srgbClr val="141B2D"/>
          </a:solidFill>
          <a:ln/>
        </p:spPr>
      </p:sp>
      <p:sp>
        <p:nvSpPr>
          <p:cNvPr id="44" name="Text 42"/>
          <p:cNvSpPr/>
          <p:nvPr/>
        </p:nvSpPr>
        <p:spPr>
          <a:xfrm>
            <a:off x="6903720" y="41148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995160" y="44348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Kelly sizing, external data, ML models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DIAMOND v2 — Kalshi Prediction Engine</dc:title>
  <dc:subject>PptxGenJS Presentation</dc:subject>
  <dc:creator>DIAMOND v2</dc:creator>
  <cp:lastModifiedBy>DIAMOND v2</cp:lastModifiedBy>
  <cp:revision>1</cp:revision>
  <dcterms:created xsi:type="dcterms:W3CDTF">2026-03-23T04:50:14Z</dcterms:created>
  <dcterms:modified xsi:type="dcterms:W3CDTF">2026-03-23T04:50:14Z</dcterms:modified>
</cp:coreProperties>
</file>