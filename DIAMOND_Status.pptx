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P&amp;L (cents)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0.55-0.59</c:v>
                  </c:pt>
                  <c:pt idx="1">
                    <c:v>0.60-0.64</c:v>
                  </c:pt>
                  <c:pt idx="2">
                    <c:v>0.65-0.69</c:v>
                  </c:pt>
                  <c:pt idx="3">
                    <c:v>0.70-0.79</c:v>
                  </c:pt>
                  <c:pt idx="4">
                    <c:v>0.80+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220</c:v>
                </c:pt>
                <c:pt idx="1">
                  <c:v>-51</c:v>
                </c:pt>
                <c:pt idx="2">
                  <c:v>-92</c:v>
                </c:pt>
                <c:pt idx="3">
                  <c:v>-99</c:v>
                </c:pt>
                <c:pt idx="4">
                  <c:v>114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B2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0080" y="1097280"/>
            <a:ext cx="548640" cy="548640"/>
          </a:xfrm>
          <a:prstGeom prst="rect">
            <a:avLst/>
          </a:prstGeom>
          <a:solidFill>
            <a:srgbClr val="00E5FF">
              <a:alpha val="80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Kalshi Prediction Market Anomaly Detection &amp; Live Trading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2194560"/>
            <a:ext cx="2743200" cy="0"/>
          </a:xfrm>
          <a:prstGeom prst="line">
            <a:avLst/>
          </a:prstGeom>
          <a:noFill/>
          <a:ln w="12700">
            <a:solidFill>
              <a:srgbClr val="00E5F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4630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 —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828800" cy="502920"/>
          </a:xfrm>
          <a:prstGeom prst="rect">
            <a:avLst/>
          </a:prstGeom>
          <a:solidFill>
            <a:srgbClr val="141B2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WebSocket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4884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&gt;&gt;&gt;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828800" cy="502920"/>
          </a:xfrm>
          <a:prstGeom prst="rect">
            <a:avLst/>
          </a:prstGeom>
          <a:solidFill>
            <a:srgbClr val="141B2D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&gt;&gt;&gt;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2011680" cy="502920"/>
          </a:xfrm>
          <a:prstGeom prst="rect">
            <a:avLst/>
          </a:prstGeom>
          <a:solidFill>
            <a:srgbClr val="14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10-Feature Engine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0372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&gt;&gt;&gt;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097280"/>
            <a:ext cx="1554480" cy="502920"/>
          </a:xfrm>
          <a:prstGeom prst="rect">
            <a:avLst/>
          </a:prstGeom>
          <a:solidFill>
            <a:srgbClr val="141B2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097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2011680"/>
            <a:ext cx="2011680" cy="502920"/>
          </a:xfrm>
          <a:prstGeom prst="rect">
            <a:avLst/>
          </a:prstGeom>
          <a:solidFill>
            <a:srgbClr val="14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011680"/>
            <a:ext cx="2194560" cy="502920"/>
          </a:xfrm>
          <a:prstGeom prst="rect">
            <a:avLst/>
          </a:prstGeom>
          <a:solidFill>
            <a:srgbClr val="14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Intelligence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2194560" cy="502920"/>
          </a:xfrm>
          <a:prstGeom prst="rect">
            <a:avLst/>
          </a:prstGeom>
          <a:solidFill>
            <a:srgbClr val="141B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Pipeline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2926080"/>
            <a:ext cx="2286000" cy="502920"/>
          </a:xfrm>
          <a:prstGeom prst="rect">
            <a:avLst/>
          </a:prstGeom>
          <a:solidFill>
            <a:srgbClr val="141B2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 Engine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926080"/>
            <a:ext cx="1828800" cy="502920"/>
          </a:xfrm>
          <a:prstGeom prst="rect">
            <a:avLst/>
          </a:prstGeom>
          <a:solidFill>
            <a:srgbClr val="141B2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Kalshi REST API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16276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v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0" y="25420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26280" y="2926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&gt;&gt;&gt;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Detection Features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Spike  |  Trade Z-Score  |  Taker Skew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Velocity  |  Sweep Detection  |  Book Imbalance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Concentration  |  Price Impact  |  Book Delta  |  X-Mkt Corr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977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 |  asyncio  |  WebSocket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|  aiohttp  |  Dash + Plotly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Compute  |  24/7 Live Trading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settled trades  |  March 20-24, 2026  |  Real money on Kalshi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100584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P&amp;L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+$0.92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100584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560320" cy="100584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WIN / AVG LOSS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1600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+41¢ / -37¢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by Market Category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2286000"/>
                <a:gridCol w="2286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ATP Tennis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 Golf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Liga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NCAA Men BB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NCAA Women BB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Score vs Profitability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Lower-conviction alerts outperform mid-range signals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371600"/>
            <a:ext cx="2926080" cy="91440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0.55-0.59 bucket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trades, +$2.20 P&amp;L, 49% win rate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risk-adjusted returns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2560320"/>
            <a:ext cx="2926080" cy="91440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0.80+ bucket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trades, +$1.14 P&amp;L, 100% win rate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but rare signals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3749040"/>
            <a:ext cx="2926080" cy="91440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(0.60-0.79)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trades, -$2.42 P&amp;L, 40% win rate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noise on hyped games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settlement data (fill bug fixed)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feature attribution on 160 trades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category-level P&amp;L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trades dashboard live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16459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WEEKS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category weighting (+/-10%)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half_life, flip_threshold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co-occurrence win rates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automated optimization cron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MONTHS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383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Score-scaled position sizing (Kelly)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Market-type-specific models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(DraftKings odds)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trained on settled outcomes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141B2D"/>
          </a:solidFill>
          <a:ln/>
          <a:effectLst>
            <a:outerShdw sx="100000" sy="100000" kx="0" ky="0" algn="bl" rotWithShape="0" blurRad="50800" dist="127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4290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75120" y="3456432"/>
            <a:ext cx="1645920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3456432"/>
            <a:ext cx="123444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34290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983480" y="36301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75120" y="3657600"/>
            <a:ext cx="1645920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0" y="3657600"/>
            <a:ext cx="987552" cy="12801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630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983480" y="38313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75120" y="3858768"/>
            <a:ext cx="1645920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0" y="3858768"/>
            <a:ext cx="1152144" cy="12801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3831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983480" y="40325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System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75120" y="4059936"/>
            <a:ext cx="1645920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4059936"/>
            <a:ext cx="131673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983480" y="42336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75120" y="4261104"/>
            <a:ext cx="1645920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Shape 35"/>
          <p:cNvSpPr/>
          <p:nvPr/>
        </p:nvSpPr>
        <p:spPr>
          <a:xfrm>
            <a:off x="6675120" y="4261104"/>
            <a:ext cx="493776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8366760" y="4233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983480" y="4434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P&amp;L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75120" y="4462272"/>
            <a:ext cx="1645920" cy="12801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6675120" y="4462272"/>
            <a:ext cx="82296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8366760" y="4434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DIAMOND — Status Report</dc:title>
  <dc:subject>PptxGenJS Presentation</dc:subject>
  <dc:creator>DIAMOND</dc:creator>
  <cp:lastModifiedBy>DIAMOND</cp:lastModifiedBy>
  <cp:revision>1</cp:revision>
  <dcterms:created xsi:type="dcterms:W3CDTF">2026-03-24T04:38:10Z</dcterms:created>
  <dcterms:modified xsi:type="dcterms:W3CDTF">2026-03-24T04:38:10Z</dcterms:modified>
</cp:coreProperties>
</file>